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SKILLORA EDTECH PLATFORM</a:t>
            </a:r>
          </a:p>
          <a:p>
            <a:pPr>
              <a:spcBef>
                <a:spcPts val="1000"/>
              </a:spcBef>
              <a:defRPr sz="3200" b="1">
                <a:solidFill>
                  <a:srgbClr val="F8FAFC"/>
                </a:solidFill>
              </a:defRPr>
            </a:pPr>
            <a:r>
              <a:t>End-to-End System Architecture &amp; Technical Build Guide</a:t>
            </a:r>
          </a:p>
          <a:p>
            <a:pPr>
              <a:spcBef>
                <a:spcPts val="1500"/>
              </a:spcBef>
              <a:defRPr sz="1400">
                <a:solidFill>
                  <a:srgbClr val="94A3B8"/>
                </a:solidFill>
              </a:defRPr>
            </a:pPr>
            <a:r>
              <a:t>A Comprehensive Step-by-Step Blueprint: Frontend (React/Vite), Backend (Express REST APIs), Encrypted Database Layer, AI Engine Integration &amp; RBAC Security.</a:t>
            </a:r>
          </a:p>
          <a:p>
            <a:pPr>
              <a:spcBef>
                <a:spcPts val="3000"/>
              </a:spcBef>
              <a:defRPr sz="1100">
                <a:solidFill>
                  <a:srgbClr val="A855F7"/>
                </a:solidFill>
              </a:defRPr>
            </a:pPr>
            <a:r>
              <a:t>Author: Skillora Engineering Team  •  Version: 2.0 Production  •  Tech Stack: React, Node.js, Express, Lowdb, PBKDF2, Gemini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SKILLORA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1. Executive Summary &amp; Tech Stack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Frontend Layer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</a:defRPr>
            </a:pPr>
            <a:r>
              <a:t>Stack: React 18, Vite 5, Lucide Icons, Tailwind &amp; Vanilla CSS Tokens, Canvas Confetti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Responsive SPA architecture with glassmorphic UI design system, multi-theme engine, and state management via SkilloraContext.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Backend Layer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</a:defRPr>
            </a:pPr>
            <a:r>
              <a:t>Stack: Node.js, Express 4.19, CORS, Body Parser, Server-Sent Events (SSE)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Modular REST API architecture (`/api/auth`, `/api/students`, `/api/leads`, `/api/finance`, `/api/events`) with async middleware.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Database &amp; Security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</a:defRPr>
            </a:pPr>
            <a:r>
              <a:t>Stack: Lowdb (JSON File Persistence), Node.js Crypto (PBKDF2 Hashing)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Persistent JSON database with 10,000 PBKDF2 iterations, 64-byte SHA-512 salt digest for encrypted passwords, and session tokens.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8FAFC"/>
                </a:solidFill>
              </a:defRPr>
            </a:pPr>
            <a:r>
              <a:t>AI &amp; Intelligence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</a:defRPr>
            </a:pPr>
            <a:r>
              <a:t>Stack: Google Gemini 1.5 Flash API + Fallback Heuristic Rules Engine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Real-time student risk analysis (50% academic, 20% attendance, 15% assignment, 15% progress) with automated intervention triggers.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SKILLORA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2. Database &amp; Data Persistence Layer (`backend/db.js`)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Lowdb JSON Database Design</a:t>
            </a:r>
          </a:p>
          <a:p>
            <a:pPr>
              <a:spcBef>
                <a:spcPts val="1000"/>
              </a:spcBef>
              <a:defRPr sz="1300" b="1">
                <a:solidFill>
                  <a:srgbClr val="06B6D4"/>
                </a:solidFill>
              </a:defRPr>
            </a:pPr>
            <a:r>
              <a:t>• File-Based JSON Storage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Persisted in `backend/data/db.json` with synchronous atomic write locks for data integrity across backend restarts.</a:t>
            </a:r>
          </a:p>
          <a:p>
            <a:pPr>
              <a:spcBef>
                <a:spcPts val="1000"/>
              </a:spcBef>
              <a:defRPr sz="1300" b="1">
                <a:solidFill>
                  <a:srgbClr val="06B6D4"/>
                </a:solidFill>
              </a:defRPr>
            </a:pPr>
            <a:r>
              <a:t>• Core Schemas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Collections for `users`, `students`, `trainers`, `courses`, `batches`, `leads`, `finance`, and `notifications`.</a:t>
            </a:r>
          </a:p>
          <a:p>
            <a:pPr>
              <a:spcBef>
                <a:spcPts val="1000"/>
              </a:spcBef>
              <a:defRPr sz="1300" b="1">
                <a:solidFill>
                  <a:srgbClr val="06B6D4"/>
                </a:solidFill>
              </a:defRPr>
            </a:pPr>
            <a:r>
              <a:t>• Seed Account Initialization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Automatic seeding for all 8 portal roles (Management, Student, Parent, Trainer, Sales, Operations, Finance, Admin).</a:t>
            </a:r>
          </a:p>
          <a:p>
            <a:pPr>
              <a:spcBef>
                <a:spcPts val="1000"/>
              </a:spcBef>
              <a:defRPr sz="1300" b="1">
                <a:solidFill>
                  <a:srgbClr val="06B6D4"/>
                </a:solidFill>
              </a:defRPr>
            </a:pPr>
            <a:r>
              <a:t>• Helper CRUD Functions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`findUserByEmail`, `authenticateUser`, `createUser`, `updateUserPassword`, `updateStudent`, `addLead`.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PBKDF2 Hash Encryption &amp; Security</a:t>
            </a:r>
          </a:p>
          <a:p>
            <a:pPr>
              <a:spcBef>
                <a:spcPts val="1000"/>
              </a:spcBef>
              <a:defRPr sz="1300" b="1">
                <a:solidFill>
                  <a:srgbClr val="A855F7"/>
                </a:solidFill>
              </a:defRPr>
            </a:pPr>
            <a:r>
              <a:t>• PBKDF2 Password Hashing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Uses Node.js `crypto.pbkdf2Sync` with 10,000 iterations, 64-byte key length, and SHA-512 digest.</a:t>
            </a:r>
          </a:p>
          <a:p>
            <a:pPr>
              <a:spcBef>
                <a:spcPts val="1000"/>
              </a:spcBef>
              <a:defRPr sz="1300" b="1">
                <a:solidFill>
                  <a:srgbClr val="A855F7"/>
                </a:solidFill>
              </a:defRPr>
            </a:pPr>
            <a:r>
              <a:t>• Unique Cryptographic Salt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Generates a unique 16-byte hex salt per user using `crypto.randomBytes(16)` to defeat rainbow table attacks.</a:t>
            </a:r>
          </a:p>
          <a:p>
            <a:pPr>
              <a:spcBef>
                <a:spcPts val="1000"/>
              </a:spcBef>
              <a:defRPr sz="1300" b="1">
                <a:solidFill>
                  <a:srgbClr val="A855F7"/>
                </a:solidFill>
              </a:defRPr>
            </a:pPr>
            <a:r>
              <a:t>• Registered-Only Verification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Strict email validation against DB. Unregistered emails are rejected immediately on login/password reset.</a:t>
            </a:r>
          </a:p>
          <a:p>
            <a:pPr>
              <a:spcBef>
                <a:spcPts val="1000"/>
              </a:spcBef>
              <a:defRPr sz="1300" b="1">
                <a:solidFill>
                  <a:srgbClr val="A855F7"/>
                </a:solidFill>
              </a:defRPr>
            </a:pPr>
            <a:r>
              <a:t>• Session Token Generation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Cryptographically signed random session tokens (`token_&lt;hex&gt;`) generated upon successful login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SKILLORA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3. Express.js REST API Architecture (`backend/routes/*`)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Authentication API (`/api/auth`)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POST /login (verify registered email &amp; PBKDF2 hash)</a:t>
            </a:r>
            <a:br/>
            <a:r>
              <a:t>POST /signup (encrypt &amp; register new accounts)</a:t>
            </a:r>
            <a:br/>
            <a:r>
              <a:t>POST /forgot-password (generate secure reset token)</a:t>
            </a:r>
            <a:br/>
            <a:r>
              <a:t>POST /reset-password (update hashed password)</a:t>
            </a:r>
            <a:br/>
            <a:r>
              <a:t>GET /me (session validation)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Student Intelligence API (`/api/students`)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GET / (fetch roster with academic &amp; attendance metrics)</a:t>
            </a:r>
            <a:br/>
            <a:r>
              <a:t>POST / (add new student)</a:t>
            </a:r>
            <a:br/>
            <a:r>
              <a:t>PUT /:id (update attendance, marks, profile)</a:t>
            </a:r>
            <a:br/>
            <a:r>
              <a:t>DELETE /:id (permanent deletion)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CRM &amp; Sales Pipeline API (`/api/leads`)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GET / (fetch sales leads)</a:t>
            </a:r>
            <a:br/>
            <a:r>
              <a:t>POST / (create new lead)</a:t>
            </a:r>
            <a:br/>
            <a:r>
              <a:t>PATCH /:id/stage (update pipeline stage: New -&gt; Contacted -&gt; Enrolled)</a:t>
            </a:r>
            <a:br/>
            <a:r>
              <a:t>POST /convert (convert lead to active student)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840480"/>
            <a:ext cx="5120640" cy="210312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6B6D4"/>
                </a:solidFill>
              </a:defRPr>
            </a:pPr>
            <a:r>
              <a:t>Real-time Events API (`/api/events`)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GET /stream (Server-Sent Events connection)</a:t>
            </a:r>
            <a:br/>
            <a:r>
              <a:t>Broadcasts live system activity, risk interventions, lead conversions, and payment updates to connected frontend clients.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SKILLORA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4. Frontend Architecture &amp; Design System (`src/*`)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Step 4.1: Global State (`SkilloraContext.jsx`)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Centralized React Context managing state for `currentUser`, `isAuthenticated`, `activePage`, `currentRole`, `students`, `leads`, `notifications`, `theme`, and toast alerts.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Step 4.2: Design Tokens &amp; CSS System (`index.css`)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Tailored dark mode and glassmorphism design system using custom CSS custom properties (`--bg-primary`, `--glass-bg`, `--glass-border`, `--glow-indigo`), custom scrollbars, and vibrant gradients.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Step 4.3: Component Hierarchy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Modular reusable UI components: `Sidebar`, `Header`, `KPICard`, `StudentTable`, `PerformanceMatrix`, `RoleAuthModal`, `EditProfileModal`, `AddStudentModal`, and `AICopilotModal`.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6366F1"/>
                </a:solidFill>
              </a:defRPr>
            </a:pPr>
            <a:r>
              <a:t>Step 4.4: Routing &amp; Portal Switching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Single-Page Application (SPA) view switching driven by `activePage` state with automatic navigation and permission guarding across 8 role portals.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SKILLORA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5. Role-Based Access Control (RBAC) &amp; 8 Portal Roles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Portal Role: STUDENT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Personalized Dashboard: View individual grades, attendance status, course progress, parent contact info, and self-edit profile.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463040"/>
            <a:ext cx="512064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Portal Role: PARENT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Guardian Overview: Monitor child academic progress, attendance risk alerts, invoice payment history, and teacher notes.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512064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Portal Role: TRAINER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Classroom Roster: Monitor batch performance, log marks &amp; attendance, add/register new students, and edit student profiles.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2651760"/>
            <a:ext cx="512064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Portal Role: MANAGEMENT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Executive Intelligence: 4-quadrant performance matrix, campus-wide KPIs, AI risk intervention dispatch, and full student edit/delete.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12064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Portal Role: SALES / CRM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Lead Conversion: Kanban pipeline stage tracking (New -&gt; Contacted -&gt; Enrolled), lead assignment, and 1-click student conversion.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840480"/>
            <a:ext cx="512064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Portal Role: OPERATIONS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Infrastructure Management: Course catalog, batch scheduling, trainer assignments, and batch capacity monitoring.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29200"/>
            <a:ext cx="512064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Portal Role: FINANCE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Financial Operations: Tuition invoice generation, expense tracking, revenue analytics, and payment status collection.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5029200"/>
            <a:ext cx="512064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Portal Role: ADMIN</a:t>
            </a:r>
          </a:p>
          <a:p>
            <a:pPr>
              <a:spcBef>
                <a:spcPts val="200"/>
              </a:spcBef>
              <a:defRPr sz="1000">
                <a:solidFill>
                  <a:srgbClr val="94A3B8"/>
                </a:solidFill>
              </a:defRPr>
            </a:pPr>
            <a:r>
              <a:t>System Administration: Global system configuration, user role management, security audits, and database backups.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SKILLORA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6. Key Security Workflows &amp; Authentication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1. Mandatory Platform Entry Gate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When a user opens the platform URL, all pre-existing session auto-logins are cleared (`activePage = 'login'`). Unauthenticated visitors are forced through the login process.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2. Registered-Only Email Login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Email address is validated against DB records. Unregistered emails are strictly rejected with an explicit error (`Account not found. Please register or check your email`).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3. Forgot Password Reset Flow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User inputs registered email -&gt; System verifies DB existence and generates a secure reset link with token -&gt; User sets new password -&gt; Updated with PBKDF2 salt encryption.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6B6D4"/>
                </a:solidFill>
              </a:defRPr>
            </a:pPr>
            <a:r>
              <a:t>4. Mandatory Role Switching Gate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When switching between portal roles (e.g. Student -&gt; Management), `RoleAuthModal` prompts for credential re-verification to prevent unauthorized role escalation.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SKILLORA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7. AI Engine &amp; Student Intelligence Classification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Multi-Factor Student Risk Formula</a:t>
            </a:r>
          </a:p>
          <a:p>
            <a:pPr>
              <a:spcBef>
                <a:spcPts val="800"/>
              </a:spcBef>
              <a:defRPr sz="1100" b="1">
                <a:solidFill>
                  <a:srgbClr val="22C55E"/>
                </a:solidFill>
              </a:defRPr>
            </a:pPr>
            <a:r>
              <a:t>Overall Score = (Academic × 50%) + (Attendance × 20%) + (Assignment × 15%) + (Progress × 15%)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• Independent Classification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Academic Grade (A: 85-100, B: 75-84, C: 65-74, D/F: &lt;65) evaluated independently from Attendance Status (Excellent: 90%+, Good: 80-89%, Average: 75-79%, Risk: &lt;75%).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• AI Risk Interventions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System identifies high-risk students and dispatches automated reminder notices or AI Copilot coaching interventions.</a:t>
            </a:r>
          </a:p>
          <a:p>
            <a:pPr>
              <a:spcBef>
                <a:spcPts val="1000"/>
              </a:spcBef>
              <a:defRPr sz="1300" b="1">
                <a:solidFill>
                  <a:srgbClr val="F8FAFC"/>
                </a:solidFill>
              </a:defRPr>
            </a:pPr>
            <a:r>
              <a:t>• Google Gemini AI Copilot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Integrated LLM copilot (`AICopilotModal`) provides real-time natural language answers, batch analytics summaries, and student intervention strategies.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8FAFC"/>
                </a:solidFill>
              </a:defRPr>
            </a:pPr>
            <a:r>
              <a:t>4-Quadrant Performance Matrix (`PerformanceMatrix.jsx`)</a:t>
            </a:r>
          </a:p>
          <a:p>
            <a:pPr>
              <a:spcBef>
                <a:spcPts val="800"/>
              </a:spcBef>
              <a:defRPr sz="1200" b="1">
                <a:solidFill>
                  <a:srgbClr val="6366F1"/>
                </a:solidFill>
              </a:defRPr>
            </a:pPr>
            <a:r>
              <a:t>• Q1: High Academic + High Attendance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Star Students (Grade A/B, Attendance 80%+). Recommended for peer mentoring.</a:t>
            </a:r>
          </a:p>
          <a:p>
            <a:pPr>
              <a:spcBef>
                <a:spcPts val="800"/>
              </a:spcBef>
              <a:defRPr sz="1200" b="1">
                <a:solidFill>
                  <a:srgbClr val="6366F1"/>
                </a:solidFill>
              </a:defRPr>
            </a:pPr>
            <a:r>
              <a:t>• Q2: High Academic + Low Attendance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Attendance Risk (Grade A/B, Attendance &lt;75%). Flagged for attendance intervention.</a:t>
            </a:r>
          </a:p>
          <a:p>
            <a:pPr>
              <a:spcBef>
                <a:spcPts val="800"/>
              </a:spcBef>
              <a:defRPr sz="1200" b="1">
                <a:solidFill>
                  <a:srgbClr val="6366F1"/>
                </a:solidFill>
              </a:defRPr>
            </a:pPr>
            <a:r>
              <a:t>• Q3: Low Academic + High Attendance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Academic Deficiency (Grade C/D, Attendance 80%+). High effort, needs academic tutoring.</a:t>
            </a:r>
          </a:p>
          <a:p>
            <a:pPr>
              <a:spcBef>
                <a:spcPts val="800"/>
              </a:spcBef>
              <a:defRPr sz="1200" b="1">
                <a:solidFill>
                  <a:srgbClr val="6366F1"/>
                </a:solidFill>
              </a:defRPr>
            </a:pPr>
            <a:r>
              <a:t>• Q4: Low Academic + Low Attendance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  Critical Risk (Grade D/F, Attendance &lt;75%). Immediate management &amp; parent notification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SKILLORA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8. Step-by-Step Build &amp; Production Deployment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Step 1: Environment &amp; Dependency Setup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Initialize Vite React application (`package.json`), install core dependencies (`lucide-react`, `canvas-confetti`), and set up Express backend server (`backend/app.js`).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Step 2: Database &amp; Encrypted Auth Setup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Configure Lowdb JSON persistence (`backend/db.js`), implement PBKDF2 hashing helper functions, and create `/api/auth` login, signup, and reset routes.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Step 3: State Management &amp; Design System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Create `SkilloraContext.jsx` for global state, build design tokens in `index.css`, and create responsive layout shell (`Header`, `Sidebar`, `RoleAuthModal`).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4340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Step 4: Building Portal Pages &amp; Components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Develop pages for Student Portal, Trainer Portal, Management Intelligence, CRM Pipeline, Operations, Finance, and Admin Dashboard.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03520"/>
            <a:ext cx="10698480" cy="86868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Step 5: Testing, Build Optimization &amp; Push</a:t>
            </a:r>
          </a:p>
          <a:p>
            <a:pPr>
              <a:spcBef>
                <a:spcPts val="200"/>
              </a:spcBef>
              <a:defRPr sz="1050">
                <a:solidFill>
                  <a:srgbClr val="94A3B8"/>
                </a:solidFill>
              </a:defRPr>
            </a:pPr>
            <a:r>
              <a:t>Run `npm run build` to compile optimized production assets into `/dist`, start backend server (`node server.js`), and push commits to GitHub `origin/main`.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366F1"/>
                </a:solidFill>
                <a:latin typeface="Arial"/>
              </a:defRPr>
            </a:pPr>
            <a:r>
              <a:t>SKILLORA PLATFORM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Arial"/>
              </a:defRPr>
            </a:pPr>
            <a:r>
              <a:t>9. Conclusion &amp; Platform Highlights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Skillora Platform Achievements &amp; Production Readiness</a:t>
            </a:r>
          </a:p>
          <a:p>
            <a:pPr>
              <a:spcBef>
                <a:spcPts val="1200"/>
              </a:spcBef>
              <a:defRPr sz="1400" b="1">
                <a:solidFill>
                  <a:srgbClr val="22C55E"/>
                </a:solidFill>
              </a:defRPr>
            </a:pPr>
            <a:r>
              <a:t>✔ End-to-End Encrypted Security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PBKDF2 salted password hashing, registered-only email verification, and mandatory role-switch authentication gate.</a:t>
            </a:r>
          </a:p>
          <a:p>
            <a:pPr>
              <a:spcBef>
                <a:spcPts val="1200"/>
              </a:spcBef>
              <a:defRPr sz="1400" b="1">
                <a:solidFill>
                  <a:srgbClr val="22C55E"/>
                </a:solidFill>
              </a:defRPr>
            </a:pPr>
            <a:r>
              <a:t>✔ Seamless Multi-Portal Experience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Tailored views for 8 distinct user roles (Students, Parents, Trainers, Management, Sales, Operations, Finance, Admin).</a:t>
            </a:r>
          </a:p>
          <a:p>
            <a:pPr>
              <a:spcBef>
                <a:spcPts val="1200"/>
              </a:spcBef>
              <a:defRPr sz="1400" b="1">
                <a:solidFill>
                  <a:srgbClr val="22C55E"/>
                </a:solidFill>
              </a:defRPr>
            </a:pPr>
            <a:r>
              <a:t>✔ Actionable AI Intelligence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4-quadrant academic vs attendance scatter matrix, multi-factor risk formula, and Google Gemini AI Copilot.</a:t>
            </a:r>
          </a:p>
          <a:p>
            <a:pPr>
              <a:spcBef>
                <a:spcPts val="1200"/>
              </a:spcBef>
              <a:defRPr sz="1400" b="1">
                <a:solidFill>
                  <a:srgbClr val="22C55E"/>
                </a:solidFill>
              </a:defRPr>
            </a:pPr>
            <a:r>
              <a:t>✔ Trainer Empowerment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Full capabilities for Trainers to monitor rosters, log attendance &amp; marks, register new students, and edit profiles.</a:t>
            </a:r>
          </a:p>
          <a:p>
            <a:pPr>
              <a:spcBef>
                <a:spcPts val="1200"/>
              </a:spcBef>
              <a:defRPr sz="1400" b="1">
                <a:solidFill>
                  <a:srgbClr val="22C55E"/>
                </a:solidFill>
              </a:defRPr>
            </a:pPr>
            <a:r>
              <a:t>✔ Production Verified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   Zero build errors (`npm run build`), synced git repository (`athulrag-pp/Skillora`), and active backend running on port 5005.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